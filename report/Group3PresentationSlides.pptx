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008"/>
    <p:restoredTop sz="94694"/>
  </p:normalViewPr>
  <p:slideViewPr>
    <p:cSldViewPr snapToGrid="0">
      <p:cViewPr varScale="1">
        <p:scale>
          <a:sx d="100" n="121"/>
          <a:sy d="100" n="121"/>
        </p:scale>
        <p:origin x="224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3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2" Type="http://schemas.openxmlformats.org/officeDocument/2006/relationships/theme" Target="theme/theme1.xml" /><Relationship Id="rId31" Type="http://schemas.openxmlformats.org/officeDocument/2006/relationships/viewProps" Target="viewProps.xml" /><Relationship Id="rId3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67D5-732D-A3D6-FB73-79AA7F77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3FE1-084D-1D4F-9B90-0747423EE0E9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D2745-7C29-B92F-4AEE-B314AB675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4E15B-A3C1-8E47-6F8F-391167A4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1563-5BAE-0F44-949E-AABE5A26D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1ACD-AA13-4930-C95C-2ED2CD39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89DC1-7CAF-0CFF-22EF-90D32A48D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E1532-3A73-62F7-9101-6F29540E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3FE1-084D-1D4F-9B90-0747423EE0E9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DF95D-3FEE-A285-35FD-BEDB4CA1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2564B-ACD1-A58C-D780-7265DE3E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1563-5BAE-0F44-949E-AABE5A26D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2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637B-34E9-E4ED-0E42-F6218D02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C1691-AF17-F946-4A71-8F65D6A9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3FE1-084D-1D4F-9B90-0747423EE0E9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476BE-3C74-3F8A-0B41-EF732E16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80866-57B3-967E-34A2-B9F70E30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1563-5BAE-0F44-949E-AABE5A26D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2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45C98-BE1B-9ED5-23B2-4126550D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3FE1-084D-1D4F-9B90-0747423EE0E9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889B4-050A-C800-F1CF-BCB56923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DB834-0C7D-357D-D25A-4892DB94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1563-5BAE-0F44-949E-AABE5A26D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2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picTx" preserve="1">
  <ns0:cSld name="Picture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93273E3E-59CB-C582-91A9-1393F41BA9E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2200"/>
            </ns1:lvl1pPr>
          </ns1:lstStyle>
          <ns1:p>
            <ns1:r>
              <ns1:rPr lang="en-US"/>
              <ns1:t>Click to edit Master title style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D24E1B25-1399-EBB9-B88F-A1B7E508A455}"/>
              </ns1:ext>
            </ns1:extLst>
          </ns0:cNvPr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2200"/>
            </ns1:lvl1pPr>
            <ns1:lvl2pPr marL="457200" indent="0">
              <ns1:buNone/>
              <ns1:defRPr sz="2000"/>
            </ns1:lvl2pPr>
            <ns1:lvl3pPr marL="914400" indent="0">
              <ns1:buNone/>
              <ns1:defRPr sz="1800"/>
            </ns1:lvl3pPr>
            <ns1:lvl4pPr marL="1371600" indent="0">
              <ns1:buNone/>
              <ns1:defRPr sz="1600"/>
            </ns1:lvl4pPr>
            <ns1:lvl5pPr marL="1828800" indent="0">
              <ns1:buNone/>
              <ns1:defRPr sz="1600"/>
            </ns1:lvl5pPr>
            <ns1:lvl6pPr marL="2286000" indent="0">
              <ns1:buNone/>
              <ns1:defRPr sz="1600"/>
            </ns1:lvl6pPr>
            <ns1:lvl7pPr marL="2743200" indent="0">
              <ns1:buNone/>
              <ns1:defRPr sz="1600"/>
            </ns1:lvl7pPr>
            <ns1:lvl8pPr marL="3200400" indent="0">
              <ns1:buNone/>
              <ns1:defRPr sz="1600"/>
            </ns1:lvl8pPr>
            <ns1:lvl9pPr marL="3657600" indent="0">
              <ns1:buNone/>
              <ns1:defRPr sz="1600"/>
            </ns1:lvl9pPr>
          </ns1:lstStyle>
          <ns1:p>
            <ns1:endParaRPr lang="en-US"/>
          </ns1:p>
        </ns0:txBody>
      </ns0:sp>
      <ns0:sp>
        <ns0:nvSpPr>
          <ns0:cNvPr id="4" name="Text Placeholder 3">
            <ns1:extLst>
              <ns1:ext uri="{FF2B5EF4-FFF2-40B4-BE49-F238E27FC236}">
                <ns2:creationId id="{7500A9AF-A906-F50F-C2BC-F2FCE0563F98}"/>
              </ns1:ext>
            </ns1:extLst>
          </ns0:cNvPr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2200"/>
            </ns1:lvl1pPr>
            <ns1:lvl2pPr marL="457200" indent="0">
              <ns1:buNone/>
              <ns1:defRPr sz="2000"/>
            </ns1:lvl2pPr>
            <ns1:lvl3pPr marL="914400" indent="0">
              <ns1:buNone/>
              <ns1:defRPr sz="1800"/>
            </ns1:lvl3pPr>
            <ns1:lvl4pPr marL="1371600" indent="0">
              <ns1:buNone/>
              <ns1:defRPr sz="1600"/>
            </ns1:lvl4pPr>
            <ns1:lvl5pPr marL="1828800" indent="0">
              <ns1:buNone/>
              <ns1:defRPr sz="1600"/>
            </ns1:lvl5pPr>
            <ns1:lvl6pPr marL="2286000" indent="0">
              <ns1:buNone/>
              <ns1:defRPr sz="1600"/>
            </ns1:lvl6pPr>
            <ns1:lvl7pPr marL="2743200" indent="0">
              <ns1:buNone/>
              <ns1:defRPr sz="1600"/>
            </ns1:lvl7pPr>
            <ns1:lvl8pPr marL="3200400" indent="0">
              <ns1:buNone/>
              <ns1:defRPr sz="1600"/>
            </ns1:lvl8pPr>
            <ns1:lvl9pPr marL="3657600" indent="0">
              <ns1:buNone/>
              <ns1:defRPr sz="1600"/>
            </ns1:lvl9pPr>
          </ns1:lstStyle>
          <ns1:p>
            <ns1:pPr lvl="0"/>
            <ns1:r>
              <ns1:rPr lang="en-US"/>
              <ns1:t>Click to edit Master text styles</ns1:t>
            </ns1:r>
          </ns1:p>
        </ns0:txBody>
      </ns0:sp>
      <ns0:sp>
        <ns0:nvSpPr>
          <ns0:cNvPr id="5" name="Date Placeholder 4">
            <ns1:extLst>
              <ns1:ext uri="{FF2B5EF4-FFF2-40B4-BE49-F238E27FC236}">
                <ns2:creationId id="{77484833-26CB-40AF-E10D-1A0DB70DCF3A}"/>
              </ns1:ext>
            </ns1:extLst>
          </ns0:cNvPr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C7593FE1-084D-1D4F-9B90-0747423EE0E9}" type="datetimeFigureOut">
              <ns1:rPr lang="en-US" smtClean="0"/>
              <ns1:t>3/8/26</ns1:t>
            </ns1:fld>
            <ns1:endParaRPr lang="en-US"/>
          </ns1:p>
        </ns0:txBody>
      </ns0:sp>
      <ns0:sp>
        <ns0:nvSpPr>
          <ns0:cNvPr id="6" name="Footer Placeholder 5">
            <ns1:extLst>
              <ns1:ext uri="{FF2B5EF4-FFF2-40B4-BE49-F238E27FC236}">
                <ns2:creationId id="{7D48F572-F7C0-D395-5C64-B7D5C58936ED}"/>
              </ns1:ext>
            </ns1:extLst>
          </ns0:cNvPr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>
            <ns1:extLst>
              <ns1:ext uri="{FF2B5EF4-FFF2-40B4-BE49-F238E27FC236}">
                <ns2:creationId id="{1B3BB153-0B75-847E-B20F-449661262C32}"/>
              </ns1:ext>
            </ns1:extLst>
          </ns0:cNvPr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E7C1563-5BAE-0F44-949E-AABE5A26D92C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3:creationId val="353150918"/>
      </ns0:ext>
    </ns0:extLst>
  </ns0:cSld>
  <ns0:clrMapOvr>
    <ns1:masterClrMapping/>
  </ns0:clrMapOvr>
</ns0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A62E-4F5B-5E5F-2E9D-EB809165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1903A-238A-7F02-F436-49921F8D7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09761-2320-46E6-73EF-985DDAAB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3FE1-084D-1D4F-9B90-0747423EE0E9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9BE5B-72DB-BB2F-D051-25381D11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B2192-786F-2388-F14C-7EAE74B2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1563-5BAE-0F44-949E-AABE5A26D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1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6905A-0D53-5FC3-3C38-99AF31DB1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AFEC-8DC6-49F8-10C3-B59F96146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1AACD-F6C0-E50B-F2F3-51B5B369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3FE1-084D-1D4F-9B90-0747423EE0E9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3199C-98DF-F44A-BCDA-E565A607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27FC5-383C-9218-2FF8-8CF7DBC3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1563-5BAE-0F44-949E-AABE5A26D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7293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>
            <ns1:extLst>
              <ns1:ext uri="{FF2B5EF4-FFF2-40B4-BE49-F238E27FC236}">
                <ns2:creationId id="{A7F86FDC-3E64-DBBC-742E-D06EE49360A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anchor="ctr" bIns="45720" lIns="91440" rIns="91440" rtlCol="0" tIns="45720" vert="horz">
            <ns1:normAutofit/>
          </ns1:bodyPr>
          <ns1:lstStyle/>
          <ns1:p>
            <ns1:r>
              <ns1:rPr lang="en-US"/>
              <ns1:t>Click to edit Master title style</ns1:t>
            </ns1:r>
          </ns1:p>
        </ns0:txBody>
      </ns0:sp>
      <ns0:sp>
        <ns0:nvSpPr>
          <ns0:cNvPr id="3" name="Text Placeholder 2">
            <ns1:extLst>
              <ns1:ext uri="{FF2B5EF4-FFF2-40B4-BE49-F238E27FC236}">
                <ns2:creationId id="{01416D5A-0144-CDF3-D8F5-47F5C431D6A8}"/>
              </ns1:ext>
            </ns1:extLst>
          </ns0:cNvPr>
          <ns0:cNvSpPr>
            <ns1:spLocks noGrp="1"/>
          </ns0:cNvSpPr>
          <ns0:nvPr>
            <ns0:ph idx="1" type="body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bIns="45720" lIns="91440" rIns="91440" rtlCol="0" tIns="45720" vert="horz">
            <ns1:normAutofit/>
          </ns1:bodyPr>
          <ns1:lstStyle/>
          <ns1:p>
            <ns1:pPr lvl="0"/>
            <ns1:r>
              <ns1:rPr lang="en-US"/>
              <ns1:t>Click to edit Master text styles</ns1:t>
            </ns1:r>
          </ns1:p>
          <ns1:p>
            <ns1:pPr lvl="1"/>
            <ns1:r>
              <ns1:rPr lang="en-US"/>
              <ns1:t>Second level</ns1:t>
            </ns1:r>
          </ns1:p>
          <ns1:p>
            <ns1:pPr lvl="2"/>
            <ns1:r>
              <ns1:rPr lang="en-US"/>
              <ns1:t>Third level</ns1:t>
            </ns1:r>
          </ns1:p>
          <ns1:p>
            <ns1:pPr lvl="3"/>
            <ns1:r>
              <ns1:rPr lang="en-US"/>
              <ns1:t>Fourth level</ns1:t>
            </ns1:r>
          </ns1:p>
          <ns1:p>
            <ns1:pPr lvl="4"/>
            <ns1:r>
              <ns1:rPr lang="en-US"/>
              <ns1:t>Fifth level</ns1:t>
            </ns1:r>
          </ns1:p>
        </ns0:txBody>
      </ns0:sp>
      <ns0:sp>
        <ns0:nvSpPr>
          <ns0:cNvPr id="4" name="Date Placeholder 3">
            <ns1:extLst>
              <ns1:ext uri="{FF2B5EF4-FFF2-40B4-BE49-F238E27FC236}">
                <ns2:creationId id="{189B9A2F-3145-13EF-10BD-4DE66BA7914F}"/>
              </ns1:ext>
            </ns1:extLst>
          </ns0:cNvPr>
          <ns0:cNvSpPr>
            <ns1:spLocks noGrp="1"/>
          </ns0:cNvSpPr>
          <ns0:nvPr>
            <ns0:ph idx="2" sz="half" type="dt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anchor="ctr" bIns="45720" lIns="91440" rIns="91440" rtlCol="0" tIns="45720" vert="horz"/>
          <ns1:lstStyle>
            <ns1:lvl1pPr algn="l">
              <ns1:defRPr sz="1200">
                <ns1:solidFill>
                  <ns1:schemeClr val="tx1">
                    <ns1:tint val="82000"/>
                  </ns1:schemeClr>
                </ns1:solidFill>
              </ns1:defRPr>
            </ns1:lvl1pPr>
          </ns1:lstStyle>
          <ns1:p>
            <ns1:fld id="{C7593FE1-084D-1D4F-9B90-0747423EE0E9}" type="datetimeFigureOut">
              <ns1:rPr lang="en-US" smtClean="0"/>
              <ns1:t>3/8/26</ns1:t>
            </ns1:fld>
            <ns1:endParaRPr lang="en-US"/>
          </ns1:p>
        </ns0:txBody>
      </ns0:sp>
      <ns0:sp>
        <ns0:nvSpPr>
          <ns0:cNvPr id="5" name="Footer Placeholder 4">
            <ns1:extLst>
              <ns1:ext uri="{FF2B5EF4-FFF2-40B4-BE49-F238E27FC236}">
                <ns2:creationId id="{A2D7C333-09B3-9266-D135-7DAF6F4CACA2}"/>
              </ns1:ext>
            </ns1:extLst>
          </ns0:cNvPr>
          <ns0:cNvSpPr>
            <ns1:spLocks noGrp="1"/>
          </ns0:cNvSpPr>
          <ns0:nvPr>
            <ns0:ph idx="3" sz="quarter" type="ftr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anchor="ctr" bIns="45720" lIns="91440" rIns="91440" rtlCol="0" tIns="45720" vert="horz"/>
          <ns1:lstStyle>
            <ns1:lvl1pPr algn="ctr">
              <ns1:defRPr sz="1200">
                <ns1:solidFill>
                  <ns1:schemeClr val="tx1">
                    <ns1:tint val="82000"/>
                  </ns1:schemeClr>
                </ns1:solidFill>
              </ns1:defRPr>
            </ns1:lvl1pPr>
          </ns1:lstStyle>
          <ns1:p>
            <ns1:endParaRPr lang="en-US"/>
          </ns1:p>
        </ns0:txBody>
      </ns0:sp>
      <ns0:sp>
        <ns0:nvSpPr>
          <ns0:cNvPr id="6" name="Slide Number Placeholder 5">
            <ns1:extLst>
              <ns1:ext uri="{FF2B5EF4-FFF2-40B4-BE49-F238E27FC236}">
                <ns2:creationId id="{06DD80ED-D126-B286-D0E4-0073851BF1CA}"/>
              </ns1:ext>
            </ns1:extLst>
          </ns0:cNvPr>
          <ns0:cNvSpPr>
            <ns1:spLocks noGrp="1"/>
          </ns0:cNvSpPr>
          <ns0:nvPr>
            <ns0:ph idx="4" sz="quarter" type="sldNum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anchor="ctr" bIns="45720" lIns="91440" rIns="91440" rtlCol="0" tIns="45720" vert="horz"/>
          <ns1:lstStyle>
            <ns1:lvl1pPr algn="r">
              <ns1:defRPr sz="1200">
                <ns1:solidFill>
                  <ns1:schemeClr val="tx1">
                    <ns1:tint val="82000"/>
                  </ns1:schemeClr>
                </ns1:solidFill>
              </ns1:defRPr>
            </ns1:lvl1pPr>
          </ns1:lstStyle>
          <ns1:p>
            <ns1:fld id="{0E7C1563-5BAE-0F44-949E-AABE5A26D92C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3:creationId val="3607561324"/>
      </ns0:ext>
    </ns0:extLst>
  </ns0:cSld>
  <ns0:clrMap accent1="accent1" accent2="accent2" accent3="accent3" accent4="accent4" accent5="accent5" accent6="accent6" bg1="lt1" bg2="lt2" folHlink="folHlink" hlink="hlink" tx1="dk1" tx2="dk2"/>
  <ns0:sldLayoutIdLst>
    <ns0:sldLayoutId id="2147483649" ns4:id="rId1"/>
    <ns0:sldLayoutId id="2147483650" ns4:id="rId2"/>
    <ns0:sldLayoutId id="2147483651" ns4:id="rId3"/>
    <ns0:sldLayoutId id="2147483652" ns4:id="rId4"/>
    <ns0:sldLayoutId id="2147483653" ns4:id="rId5"/>
    <ns0:sldLayoutId id="2147483654" ns4:id="rId6"/>
    <ns0:sldLayoutId id="2147483655" ns4:id="rId7"/>
    <ns0:sldLayoutId id="2147483656" ns4:id="rId8"/>
    <ns0:sldLayoutId id="2147483657" ns4:id="rId9"/>
    <ns0:sldLayoutId id="2147483658" ns4:id="rId10"/>
    <ns0:sldLayoutId id="2147483659" ns4:id="rId11"/>
  </ns0:sldLayoutIdLst>
  <ns0:txStyles>
    <ns0:titleStyle>
      <ns1:lvl1pPr algn="l" defTabSz="914400" eaLnBrk="1" hangingPunct="1" latinLnBrk="0" rtl="0">
        <ns1:lnSpc>
          <ns1:spcPct val="90000"/>
        </ns1:lnSpc>
        <ns1:spcBef>
          <ns1:spcPct val="0"/>
        </ns1:spcBef>
        <ns1:buNone/>
        <ns1:defRPr kern="1200" sz="44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algn="l" defTabSz="914400" eaLnBrk="1" hangingPunct="1" indent="-228600" latinLnBrk="0" marL="228600" rtl="0">
        <ns1:lnSpc>
          <ns1:spcPct val="90000"/>
        </ns1:lnSpc>
        <ns1:spcBef>
          <ns1:spcPts val="1000"/>
        </ns1:spcBef>
        <ns1:buFont charset="0" panose="020B0604020202020204" pitchFamily="34" typeface="Arial"/>
        <ns1:buChar char="•"/>
        <ns1:defRPr kern="1200" sz="2200">
          <ns1:solidFill>
            <ns1:schemeClr val="tx1"/>
          </ns1:solidFill>
          <ns1:latin typeface="+mn-lt"/>
          <ns1:ea typeface="+mn-ea"/>
          <ns1:cs typeface="+mn-cs"/>
        </ns1:defRPr>
      </ns1:lvl1pPr>
      <ns1:lvl2pPr algn="l" defTabSz="914400" eaLnBrk="1" hangingPunct="1" indent="-228600" latinLnBrk="0" marL="6858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2000">
          <ns1:solidFill>
            <ns1:schemeClr val="tx1"/>
          </ns1:solidFill>
          <ns1:latin typeface="+mn-lt"/>
          <ns1:ea typeface="+mn-ea"/>
          <ns1:cs typeface="+mn-cs"/>
        </ns1:defRPr>
      </ns1:lvl2pPr>
      <ns1:lvl3pPr algn="l" defTabSz="914400" eaLnBrk="1" hangingPunct="1" indent="-228600" latinLnBrk="0" marL="11430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800">
          <ns1:solidFill>
            <ns1:schemeClr val="tx1"/>
          </ns1:solidFill>
          <ns1:latin typeface="+mn-lt"/>
          <ns1:ea typeface="+mn-ea"/>
          <ns1:cs typeface="+mn-cs"/>
        </ns1:defRPr>
      </ns1:lvl3pPr>
      <ns1:lvl4pPr algn="l" defTabSz="914400" eaLnBrk="1" hangingPunct="1" indent="-228600" latinLnBrk="0" marL="16002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4pPr>
      <ns1:lvl5pPr algn="l" defTabSz="914400" eaLnBrk="1" hangingPunct="1" indent="-228600" latinLnBrk="0" marL="20574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5pPr>
      <ns1:lvl6pPr algn="l" defTabSz="914400" eaLnBrk="1" hangingPunct="1" indent="-228600" latinLnBrk="0" marL="25146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6pPr>
      <ns1:lvl7pPr algn="l" defTabSz="914400" eaLnBrk="1" hangingPunct="1" indent="-228600" latinLnBrk="0" marL="29718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7pPr>
      <ns1:lvl8pPr algn="l" defTabSz="914400" eaLnBrk="1" hangingPunct="1" indent="-228600" latinLnBrk="0" marL="34290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8pPr>
      <ns1:lvl9pPr algn="l" defTabSz="914400" eaLnBrk="1" hangingPunct="1" indent="-228600" latinLnBrk="0" marL="3886200" rtl="0">
        <ns1:lnSpc>
          <ns1:spcPct val="90000"/>
        </ns1:lnSpc>
        <ns1:spcBef>
          <ns1:spcPts val="500"/>
        </ns1:spcBef>
        <ns1:buFont charset="0" panose="020B0604020202020204" pitchFamily="34" typeface="Arial"/>
        <ns1:buChar char="•"/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en-US"/>
      </ns1:defPPr>
      <ns1:lvl1pPr algn="l" defTabSz="914400" eaLnBrk="1" hangingPunct="1" latinLnBrk="0" marL="0" rtl="0">
        <ns1:defRPr kern="1200" sz="2200">
          <ns1:solidFill>
            <ns1:schemeClr val="tx1"/>
          </ns1:solidFill>
          <ns1:latin typeface="+mn-lt"/>
          <ns1:ea typeface="+mn-ea"/>
          <ns1:cs typeface="+mn-cs"/>
        </ns1:defRPr>
      </ns1:lvl1pPr>
      <ns1:lvl2pPr algn="l" defTabSz="914400" eaLnBrk="1" hangingPunct="1" latinLnBrk="0" marL="457200" rtl="0">
        <ns1:defRPr kern="1200" sz="2000">
          <ns1:solidFill>
            <ns1:schemeClr val="tx1"/>
          </ns1:solidFill>
          <ns1:latin typeface="+mn-lt"/>
          <ns1:ea typeface="+mn-ea"/>
          <ns1:cs typeface="+mn-cs"/>
        </ns1:defRPr>
      </ns1:lvl2pPr>
      <ns1:lvl3pPr algn="l" defTabSz="914400" eaLnBrk="1" hangingPunct="1" latinLnBrk="0" marL="914400" rtl="0">
        <ns1:defRPr kern="1200" sz="1800">
          <ns1:solidFill>
            <ns1:schemeClr val="tx1"/>
          </ns1:solidFill>
          <ns1:latin typeface="+mn-lt"/>
          <ns1:ea typeface="+mn-ea"/>
          <ns1:cs typeface="+mn-cs"/>
        </ns1:defRPr>
      </ns1:lvl3pPr>
      <ns1:lvl4pPr algn="l" defTabSz="914400" eaLnBrk="1" hangingPunct="1" latinLnBrk="0" marL="1371600" rtl="0"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4pPr>
      <ns1:lvl5pPr algn="l" defTabSz="914400" eaLnBrk="1" hangingPunct="1" latinLnBrk="0" marL="1828800" rtl="0"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5pPr>
      <ns1:lvl6pPr algn="l" defTabSz="914400" eaLnBrk="1" hangingPunct="1" latinLnBrk="0" marL="2286000" rtl="0"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6pPr>
      <ns1:lvl7pPr algn="l" defTabSz="914400" eaLnBrk="1" hangingPunct="1" latinLnBrk="0" marL="2743200" rtl="0"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7pPr>
      <ns1:lvl8pPr algn="l" defTabSz="914400" eaLnBrk="1" hangingPunct="1" latinLnBrk="0" marL="3200400" rtl="0"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8pPr>
      <ns1:lvl9pPr algn="l" defTabSz="914400" eaLnBrk="1" hangingPunct="1" latinLnBrk="0" marL="3657600" rtl="0">
        <ns1:defRPr kern="1200" sz="16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Wildfire Effects on AQI: What We Learned and How to Use 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Catherine Yao, Binghong Chen, Xiwen Sun, Zitong Shu, Liyan Wang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Study 1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Analyzed traffic, meteorology, and temporal patterns.</a:t>
            </a:r>
          </a:p>
          <a:p>
            <a:pPr lvl="0"/>
            <a:r>
              <a:rPr/>
              <a:t>Key finding: AQI variation largely explained by traffic and weather.</a:t>
            </a:r>
          </a:p>
          <a:p>
            <a:pPr lvl="0"/>
            <a:r>
              <a:rPr/>
              <a:t>Linear models performed best for forecasting.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Study 1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Baseline Gap: Case 1 models performed well on average but failed to capture episodic “extreme AQI” spikes.</a:t>
            </a:r>
          </a:p>
          <a:p>
            <a:pPr lvl="0"/>
            <a:r>
              <a:rPr/>
              <a:t>The Risk: The days where our baselines fail are the exact days our users rely on us most for health advisories.</a:t>
            </a:r>
          </a:p>
          <a:p>
            <a:pPr lvl="0"/>
            <a:r>
              <a:rPr/>
              <a:t>The Hypothesis: These aligned error spikes are driven by unobserved exogenous factors—specifically, wildfire smoke transport—rather than a lack of model complexity.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business question is: How can we make next-day AQI forecasts more reliable during high-risk pollution events, particularly during wildfire smoke episodes?</a:t>
            </a:r>
          </a:p>
          <a:p>
            <a:pPr lvl="0" indent="0" marL="0">
              <a:buNone/>
            </a:pPr>
            <a:r>
              <a:rPr/>
              <a:t>More specifically:</a:t>
            </a:r>
          </a:p>
          <a:p>
            <a:pPr lvl="0" indent="0" marL="0">
              <a:buNone/>
            </a:pPr>
            <a:r>
              <a:rPr/>
              <a:t>Can wildfire activity explain extreme AQI spikes that current models fail to capture?</a:t>
            </a:r>
          </a:p>
          <a:p>
            <a:pPr lvl="0" indent="0" marL="0">
              <a:buNone/>
            </a:pPr>
            <a:r>
              <a:rPr/>
              <a:t>Can wildfire signals be integrated into the forecasting pipeline to improve advisory reliability?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Source: Canadian Wildland Fire Information System (CWFIS) Fire M3 Daily Hotspots archive for 2022–2024.</a:t>
            </a:r>
          </a:p>
          <a:p>
            <a:pPr lvl="0"/>
            <a:r>
              <a:rPr/>
              <a:t>Filtered strictly to Ontario borders and stripped out records with missing coordinates or timestamps to guarantee accurate downstream spatial joins.</a:t>
            </a:r>
          </a:p>
          <a:p>
            <a:pPr lvl="0"/>
            <a:r>
              <a:rPr/>
              <a:t>Identified and removed physically impossible sensor errors, such as surface temperatures recorded above 100°C. Deliberately retained records where the Head Fire Intensity (HFI) was exactly 0.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fit a Bayesian hierarchical regression model with a Gaussian likelihood to estimate the effect of wildfire exposure on next-day AQI.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Predictors:</a:t>
            </a:r>
          </a:p>
          <a:p>
            <a:pPr lvl="0"/>
            <a:r>
              <a:rPr/>
              <a:t>Wildfire exposure lags (0–3 days)</a:t>
            </a:r>
          </a:p>
          <a:p>
            <a:pPr lvl="0"/>
            <a:r>
              <a:rPr/>
              <a:t>Meteorology (temperature, precipitation, wind)</a:t>
            </a:r>
          </a:p>
          <a:p>
            <a:pPr lvl="0"/>
            <a:r>
              <a:rPr/>
              <a:t>Traffic intensity</a:t>
            </a:r>
          </a:p>
          <a:p>
            <a:pPr lvl="0"/>
            <a:r>
              <a:rPr/>
              <a:t>Weekday effects (day-of-week indicators)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1ACD-AA13-4930-C95C-2ED2CD39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Hierarchical structure</a:t>
            </a:r>
          </a:p>
          <a:p>
            <a:pPr lvl="0"/>
            <a:r>
              <a:rPr/>
              <a:t>Station-level random intercepts</a:t>
            </a:r>
            <a:br/>
          </a:p>
          <a:p>
            <a:pPr lvl="0"/>
            <a:r>
              <a:rPr/>
              <a:t>Cyclic seasonal spline for day-of-year</a:t>
            </a:r>
            <a:br/>
          </a:p>
        </p:txBody>
      </p:sp>
      <p:pic>
        <p:nvPicPr>
          <p:cNvPr descr="PresentationImage/GaussianCoe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857500"/>
            <a:ext cx="51816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Bayesian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</a:t>
            </a:r>
          </a:p>
          <a:p>
            <a:pPr lvl="0"/>
            <a:r>
              <a:rPr/>
              <a:t>Posterior inference via MCMC (NUTS sampler)</a:t>
            </a:r>
          </a:p>
          <a:p>
            <a:pPr lvl="0"/>
            <a:r>
              <a:rPr/>
              <a:t>4 chains × 2,000 iterations (per chain)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Posterior evidence</a:t>
            </a:r>
          </a:p>
          <a:p>
            <a:pPr lvl="0"/>
            <a:r>
              <a:rPr/>
              <a:t>The posterior probability that the cumulative 0–3 day wildfire effect is positive is &gt; 99.9%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MCMC diagnostics</a:t>
            </a:r>
          </a:p>
          <a:p>
            <a:pPr lvl="0"/>
            <a:r>
              <a:rPr/>
              <a:t>R-hat ≈ 1.00 across parameters (good mixing / convergence)</a:t>
            </a:r>
          </a:p>
          <a:p>
            <a:pPr lvl="0"/>
            <a:r>
              <a:rPr/>
              <a:t>High effective sample sizes (ESS), suggesting estimates are stable and not driven by sampling noise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Wildfire Lag Effect</a:t>
            </a:r>
          </a:p>
          <a:p>
            <a:pPr lvl="0"/>
            <a:r>
              <a:rPr/>
              <a:t>Key takeaway: wildfire exposure is associated with higher next-day AQI, with effects concentrated in short lags (0–3 days).</a:t>
            </a:r>
          </a:p>
        </p:txBody>
      </p:sp>
      <p:pic>
        <p:nvPicPr>
          <p:cNvPr descr="PresentationImage/LagCoe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362200"/>
            <a:ext cx="5181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Cumulative Wildfire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Cumulative effect over lags 0–3 days:</a:t>
            </a:r>
          </a:p>
          <a:p>
            <a:pPr lvl="1"/>
            <a:r>
              <a:rPr/>
              <a:t>Mean ≈ 4.95 AQI increase</a:t>
            </a:r>
          </a:p>
          <a:p>
            <a:pPr lvl="1"/>
            <a:r>
              <a:rPr/>
              <a:t>95% credible interval ≈ [4.63, 5.27]</a:t>
            </a:r>
          </a:p>
          <a:p>
            <a:pPr lvl="1"/>
            <a:r>
              <a:rPr/>
              <a:t>Probability positive ≈ 1.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Posterior Predictive Check</a:t>
            </a:r>
          </a:p>
          <a:p>
            <a:pPr lvl="0"/>
            <a:r>
              <a:rPr/>
              <a:t>Model reproduces the main AQI distribution.</a:t>
            </a:r>
          </a:p>
          <a:p>
            <a:pPr lvl="0"/>
            <a:r>
              <a:rPr/>
              <a:t>Some mismatch in extreme right tail.</a:t>
            </a:r>
          </a:p>
          <a:p>
            <a:pPr lvl="0"/>
            <a:r>
              <a:rPr/>
              <a:t>Indicates difficulty modeling extreme events.</a:t>
            </a:r>
          </a:p>
        </p:txBody>
      </p:sp>
      <p:pic>
        <p:nvPicPr>
          <p:cNvPr descr="PresentationImage/PosteriorPr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489200"/>
            <a:ext cx="5181600" cy="300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Residual Diagnostics</a:t>
            </a:r>
          </a:p>
          <a:p>
            <a:pPr lvl="0"/>
            <a:r>
              <a:rPr/>
              <a:t>Residual variance increases at higher AQI levels.</a:t>
            </a:r>
          </a:p>
          <a:p>
            <a:pPr lvl="0"/>
            <a:r>
              <a:rPr/>
              <a:t>Suggests heteroskedasticity during severe pollution days.</a:t>
            </a:r>
          </a:p>
        </p:txBody>
      </p:sp>
      <p:pic>
        <p:nvPicPr>
          <p:cNvPr descr="PresentationImage/residu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451100"/>
            <a:ext cx="51816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Heavy-Tail Modeling</a:t>
            </a:r>
          </a:p>
          <a:p>
            <a:pPr lvl="0"/>
            <a:r>
              <a:rPr/>
              <a:t>Student-t likelihood used to capture extreme pollution spikes.</a:t>
            </a:r>
          </a:p>
          <a:p>
            <a:pPr lvl="0"/>
            <a:r>
              <a:rPr/>
              <a:t>Estimated degrees of freedom ≈ 3.9.</a:t>
            </a:r>
          </a:p>
          <a:p>
            <a:pPr lvl="0"/>
            <a:r>
              <a:rPr/>
              <a:t>Indicates heavy-tailed AQI distribution.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takeaway:</a:t>
            </a:r>
          </a:p>
          <a:p>
            <a:pPr lvl="0"/>
            <a:r>
              <a:rPr/>
              <a:t>Strongest wildfire association occurs at lag 3, with a clearly positive 95% credible interval.</a:t>
            </a:r>
          </a:p>
        </p:txBody>
      </p:sp>
      <p:pic>
        <p:nvPicPr>
          <p:cNvPr descr="PresentationImage/TdistCoe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933700"/>
            <a:ext cx="51816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Gaussian vs Student-t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Gaussian: thin tails → extremes inflate σ and can distort uncertainty.</a:t>
            </a:r>
          </a:p>
          <a:p>
            <a:pPr lvl="0"/>
            <a:r>
              <a:rPr/>
              <a:t>Student-t: heavy tails (small ν) → handles spikes without over-inflating σ.</a:t>
            </a:r>
          </a:p>
          <a:p>
            <a:pPr lvl="0"/>
            <a:r>
              <a:rPr/>
              <a:t>Robustness: wildfire lag effects (esp. lag 3) stay positive in both models; Student-t is often cleaner/stronger because outliers have less leverage.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Remaining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wildfire hotspots are only proxies for smoke transport</a:t>
            </a:r>
          </a:p>
          <a:p>
            <a:pPr lvl="0"/>
            <a:r>
              <a:rPr/>
              <a:t>wind direction treated linearly</a:t>
            </a:r>
          </a:p>
          <a:p>
            <a:pPr lvl="0"/>
            <a:r>
              <a:rPr/>
              <a:t>lag coefficients may trade off due to correlation</a:t>
            </a:r>
          </a:p>
          <a:p>
            <a:pPr lvl="0"/>
            <a:r>
              <a:rPr/>
              <a:t>extreme AQI days remain hard to predict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RQ2 (Forecast lift): Does adding wildfire exposure features improve next-day AQI point-forecast accuracy,</a:t>
            </a:r>
          </a:p>
          <a:p>
            <a:pPr lvl="0"/>
            <a:r>
              <a:rPr/>
              <a:t>with emphasis on extreme days (e.g., top decile AQI) where Case 1 failed?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RQ2 Goal &amp;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Question: Does adding wildfire exposure features improve next-day AQI point forecasts?</a:t>
            </a:r>
          </a:p>
          <a:p>
            <a:pPr lvl="0"/>
            <a:r>
              <a:rPr/>
              <a:t>Emphasis: extreme days (top-decile next-day AQI) where Case Study 1 failed</a:t>
            </a:r>
          </a:p>
          <a:p>
            <a:pPr lvl="0"/>
            <a:r>
              <a:rPr/>
              <a:t>We compare Baseline vs +Wildfire across three model families:</a:t>
            </a:r>
          </a:p>
          <a:p>
            <a:pPr lvl="1"/>
            <a:r>
              <a:rPr/>
              <a:t>OLS</a:t>
            </a:r>
          </a:p>
          <a:p>
            <a:pPr lvl="1"/>
            <a:r>
              <a:rPr/>
              <a:t>Neural Network (MLP)</a:t>
            </a:r>
          </a:p>
          <a:p>
            <a:pPr lvl="1"/>
            <a:r>
              <a:rPr/>
              <a:t>LSTM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 include station outages and missing predictors.</a:t>
            </a:r>
          </a:p>
          <a:p>
            <a:pPr lvl="0" indent="0" marL="0">
              <a:buNone/>
            </a:pPr>
            <a:r>
              <a:rPr/>
              <a:t>Strategy:</a:t>
            </a:r>
          </a:p>
          <a:p>
            <a:pPr lvl="0"/>
            <a:r>
              <a:rPr/>
              <a:t>Drop rows with missing target AQI(t+1)</a:t>
            </a:r>
          </a:p>
          <a:p>
            <a:pPr lvl="0"/>
            <a:r>
              <a:rPr/>
              <a:t>For missing predictors:</a:t>
            </a:r>
          </a:p>
          <a:p>
            <a:pPr lvl="1"/>
            <a:r>
              <a:rPr/>
              <a:t>simple imputation (e.g., forward fill / median by station) OR</a:t>
            </a:r>
          </a:p>
          <a:p>
            <a:pPr lvl="1"/>
            <a:r>
              <a:rPr/>
              <a:t>complete-case filtering for model-ready rows</a:t>
            </a:r>
          </a:p>
          <a:p>
            <a:pPr lvl="0" indent="0" marL="0">
              <a:buNone/>
            </a:pPr>
            <a:r>
              <a:rPr/>
              <a:t>Report final sample size:</a:t>
            </a:r>
          </a:p>
          <a:p>
            <a:pPr lvl="0"/>
            <a:r>
              <a:rPr/>
              <a:t>Remaining observations: N = 18523 (original: 33496)</a:t>
            </a:r>
          </a:p>
          <a:p>
            <a:pPr lvl="0"/>
            <a:r>
              <a:rPr/>
              <a:t>Remaining stations: S = 21</a:t>
            </a:r>
          </a:p>
          <a:p>
            <a:pPr lvl="0" indent="0" marL="0">
              <a:buNone/>
            </a:pPr>
            <a:r>
              <a:rPr/>
              <a:t>Avoiding Data Leakage</a:t>
            </a:r>
          </a:p>
          <a:p>
            <a:pPr lvl="0"/>
            <a:r>
              <a:rPr/>
              <a:t>We fit the imputer only on the training data and then transform both training and testing data.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 indent="0" marL="0">
              <a:buNone/>
            </a:pPr>
            <a:r>
              <a:rPr/>
              <a:t>overall performance comparison</a:t>
            </a:r>
          </a:p>
        </p:txBody>
      </p:sp>
      <p:pic>
        <p:nvPicPr>
          <p:cNvPr descr="PresentationImage/RQ2OverallCo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921000"/>
            <a:ext cx="51816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 indent="0" marL="0">
              <a:buNone/>
            </a:pPr>
            <a:r>
              <a:rPr/>
              <a:t>extreme days performance comparison</a:t>
            </a:r>
          </a:p>
        </p:txBody>
      </p:sp>
      <p:pic>
        <p:nvPicPr>
          <p:cNvPr descr="PresentationImage/RQ2ExtremeCo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3124200"/>
            <a:ext cx="5181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Overall: OLS ≈ LSTM; NN worse</a:t>
            </a:r>
          </a:p>
          <a:p>
            <a:pPr lvl="0"/>
            <a:r>
              <a:rPr/>
              <a:t>Extreme days: NN baseline best; +Wildfire slightly worse (all models)</a:t>
            </a:r>
          </a:p>
          <a:p>
            <a:pPr lvl="0"/>
            <a:r>
              <a:rPr/>
              <a:t>Business: no strong smoke-day lift; avoid over-claim</a:t>
            </a:r>
          </a:p>
          <a:p>
            <a:pPr lvl="0"/>
            <a:r>
              <a:rPr/>
              <a:t>Action: deploy OLS baseline; wildfire for monitoring/explanation</a:t>
            </a:r>
          </a:p>
          <a:p>
            <a:pPr lvl="0"/>
            <a:r>
              <a:rPr/>
              <a:t>Next: transport-aware features; extreme-focused training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RQ3 (Operational signal):</a:t>
            </a:r>
          </a:p>
          <a:p>
            <a:pPr lvl="0" indent="0" marL="0">
              <a:buNone/>
            </a:pPr>
            <a:r>
              <a:rPr/>
              <a:t>Can we produce a stable, interpretable wildfire-risk signal (feature + diagnostics) that supports stakeholder-facing explanations and monitoring?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Define the Operational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Operational target: “High AQI tomorrow” event</a:t>
            </a:r>
          </a:p>
          <a:p>
            <a:pPr lvl="0"/>
            <a:r>
              <a:rPr/>
              <a:t>Definition: next-day AQI in the top 10% (binary outcome)</a:t>
            </a:r>
          </a:p>
          <a:p>
            <a:pPr lvl="0"/>
            <a:r>
              <a:rPr/>
              <a:t>Why this helps stakeholders: a single number for alerts + dashboards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Procedures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Define the Monitored Outcome</a:t>
            </a:r>
          </a:p>
          <a:p>
            <a:pPr lvl="0" indent="0" marL="0">
              <a:buNone/>
            </a:pPr>
            <a:r>
              <a:rPr/>
              <a:t>Create a binary “high-AQI tomorrow” event (e.g., top 10% of next-day AQI).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Fit an Interpretable Risk Model</a:t>
            </a:r>
          </a:p>
          <a:p>
            <a:pPr lvl="0" indent="0" marL="0">
              <a:buNone/>
            </a:pPr>
            <a:r>
              <a:rPr/>
              <a:t>Train a Bayesian hierarchical logistic regression.</a:t>
            </a:r>
          </a:p>
          <a:p>
            <a:pPr lvl="0" indent="0" marL="0">
              <a:buNone/>
            </a:pPr>
            <a:r>
              <a:rPr/>
              <a:t>The model’s wildfire exposure features, especially the 3-day lag, meaningfully increase the probability of a high-AQI day tomorrow.</a:t>
            </a:r>
          </a:p>
        </p:txBody>
      </p:sp>
      <p:pic>
        <p:nvPicPr>
          <p:cNvPr descr="PresentationImage/RQ3Coe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933700"/>
            <a:ext cx="51816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Result: Wildfire Increases High-AQI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Focus on the most actionable term: lag-3 wildfire exposure (k3)</a:t>
            </a:r>
          </a:p>
          <a:p>
            <a:pPr lvl="0"/>
            <a:r>
              <a:rPr/>
              <a:t>Coefficient (log-odds): ≈ 0.45</a:t>
            </a:r>
          </a:p>
          <a:p>
            <a:pPr lvl="0"/>
            <a:r>
              <a:rPr/>
              <a:t>Odds ratio: exp(0.45) ≈ 1.57</a:t>
            </a:r>
          </a:p>
          <a:p>
            <a:pPr lvl="0"/>
            <a:r>
              <a:rPr/>
              <a:t>→ ~57% higher odds of a high-AQI day per +1 SD wildfire exposure</a:t>
            </a:r>
          </a:p>
          <a:p>
            <a:pPr lvl="0"/>
            <a:r>
              <a:rPr/>
              <a:t>Interpretation: strongest risk signal appears with ~3-day delay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Diagnostic A: Calibration of the Risk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Bin predictions into deciles of probability of high AQI next day</a:t>
            </a:r>
          </a:p>
          <a:p>
            <a:pPr lvl="0"/>
            <a:r>
              <a:rPr/>
              <a:t>Near-diagonal points → probabilities are reasonably calibrated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359-761A-AF91-3F2A-35CB180F3B77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Diagnostic B: Wildfire-driven Risk Uplift</a:t>
            </a:r>
          </a:p>
          <a:p>
            <a:pPr lvl="0" indent="0" marL="0">
              <a:buNone/>
            </a:pPr>
            <a:r>
              <a:rPr/>
              <a:t>Δ = P(High AQI | WSEI) − P(High AQI | WSEI = 0)</a:t>
            </a:r>
          </a:p>
          <a:p>
            <a:pPr lvl="0"/>
            <a:r>
              <a:rPr/>
              <a:t>Compute wildfire uplift:</a:t>
            </a:r>
          </a:p>
          <a:p>
            <a:pPr lvl="0"/>
            <a:r>
              <a:rPr/>
              <a:t>Interpretation:</a:t>
            </a:r>
            <a:br/>
            <a:r>
              <a:rPr/>
              <a:t>mass near 0 → wildfire has little effect on most days (good: fewer false alarms)</a:t>
            </a:r>
            <a:br/>
            <a:r>
              <a:rPr/>
              <a:t>positive tail → wildfire meaningfully increases risk on smoke-impacted days</a:t>
            </a:r>
          </a:p>
        </p:txBody>
      </p:sp>
      <p:pic>
        <p:nvPicPr>
          <p:cNvPr descr="PresentationImage/RiskUplif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324100"/>
            <a:ext cx="51816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097-3775-A288-F4FC-F7C3785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4E0C-3F8E-C6F0-661E-24BBA48D8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Wildfire exposure shows a clear positive association with next-day AQI, with the strongest and most consistent effect around a ~3-day lag; results are robust under Gaussian and Student-t errors (Student-t better reflects spike-prone AQI).</a:t>
            </a:r>
          </a:p>
          <a:p>
            <a:pPr lvl="0"/>
            <a:r>
              <a:rPr/>
              <a:t>Adding WSEI features improves performance where CS1 struggled most—high-AQI periods—by providing an additional driver that helps explain and anticipate spike days. The wildfire-aware model reduces “missing-driver” behavior relative to baselines that rely mainly on seasonality/meteorology.</a:t>
            </a:r>
          </a:p>
          <a:p>
            <a:pPr lvl="0"/>
            <a:r>
              <a:rPr/>
              <a:t>Using a top-decile next-day AQI event, the Bayesian risk model produces a probability score that is interpretable and calibratable. Wildfire features (especially lag-3) increase predicted risk, and the uplift diagnostic shows the wildfire signal activates primarily on a subset of days (good: less noise on normal days). Value to decision-making</a:t>
            </a:r>
          </a:p>
          <a:p>
            <a:pPr lvl="0"/>
            <a:r>
              <a:rPr/>
              <a:t>We can deploy a wildfire-aware early-warning indicator for Ontario: a daily risk probability + a clear explanation of why risk is elevated.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Effects on AQI: What We Learned and How to Use It</dc:title>
  <dc:creator>Catherine Yao, Binghong Chen, Xiwen Sun, Zitong Shu, Liyan Wang</dc:creator>
  <cp:keywords/>
  <dcterms:created xsi:type="dcterms:W3CDTF">2026-03-09T04:42:28Z</dcterms:created>
  <dcterms:modified xsi:type="dcterms:W3CDTF">2026-03-09T04:42:28Z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2026-03-08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